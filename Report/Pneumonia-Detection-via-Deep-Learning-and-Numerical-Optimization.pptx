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9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8316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Pneumonia Detection via Deep Learning &amp; Numerical Optimization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87620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CNN architectures integrated with Lipschitz Momentum optimization for automated, high-sensitivity radiographic classification</a:t>
            </a:r>
            <a:endParaRPr lang="en-US" sz="1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6C2E9E-D8FD-4896-B266-91E70B269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7248" y="7749524"/>
            <a:ext cx="1783152" cy="480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EB45C5-D908-4C50-8253-13C5F390F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168" y="3943335"/>
            <a:ext cx="1646063" cy="342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0369"/>
            <a:ext cx="734568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Introduction &amp; Problem Statement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172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3017282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Pneumonia Overview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6677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Bacterial/viral lung infection causing alveolar inflammation and pathological opacities visible on chest radiography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017282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3017282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3238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Diagnostic Challenge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667720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Subjective radiographic interpretation with inter-observer variability affecting sensitivity and specificity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722376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722376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Clinical Imperative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37281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High-volume screening requirements creating radiologist workload burden and diagnostic bottlenecks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722376"/>
            <a:ext cx="6422231" cy="1506736"/>
          </a:xfrm>
          <a:prstGeom prst="roundRect">
            <a:avLst>
              <a:gd name="adj" fmla="val 728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722376"/>
            <a:ext cx="91440" cy="1506736"/>
          </a:xfrm>
          <a:prstGeom prst="roundRect">
            <a:avLst>
              <a:gd name="adj" fmla="val 91163"/>
            </a:avLst>
          </a:prstGeom>
          <a:solidFill>
            <a:srgbClr val="835E54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9435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 Solution Potential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372814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Automated, consistent classification enabling triage support and early intervention protocols</a:t>
            </a:r>
            <a:endParaRPr lang="en-US" sz="1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5AB855D-78CF-4B8B-8590-FE512ED4C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8064" y="7635240"/>
            <a:ext cx="2852926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8530"/>
            <a:ext cx="557962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Research Gap &amp; Objectives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644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Existing Limitations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15313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dataset bias toward specific patient demographics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optimizers (SGD/Adam) exhibit slow convergence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integration of advanced numerical methods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Insufficient focus on recall optimization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3644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Goals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415313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robust CNN classifier for binary diagnosis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</a:t>
            </a: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Lipschitz Momentum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optimization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Achieve </a:t>
            </a:r>
            <a:r>
              <a:rPr lang="en-US" sz="155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96% Recall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minimize false negatives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 on external test sets</a:t>
            </a:r>
            <a:endParaRPr lang="en-US" sz="15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0B5C6-73A2-4640-B4E7-465EEE7EC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1" y="7627158"/>
            <a:ext cx="2343150" cy="488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870347"/>
            <a:ext cx="6367105" cy="56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&amp; Preprocessing Pipeline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7829" y="1689140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27829" y="1975485"/>
            <a:ext cx="7688342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6" name="Text 3"/>
          <p:cNvSpPr/>
          <p:nvPr/>
        </p:nvSpPr>
        <p:spPr>
          <a:xfrm>
            <a:off x="727829" y="2112169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Image Acquisition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27829" y="2496383"/>
            <a:ext cx="768834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Paediatric chest X-rays: Normal (1,583) vs. Pneumonia (2,538) cases from NIH repository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7829" y="3078599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7829" y="3364944"/>
            <a:ext cx="7688342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0" name="Text 7"/>
          <p:cNvSpPr/>
          <p:nvPr/>
        </p:nvSpPr>
        <p:spPr>
          <a:xfrm>
            <a:off x="727829" y="3501628"/>
            <a:ext cx="2660094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Dimension Standardization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27829" y="3885843"/>
            <a:ext cx="768834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Resize to 224×224 pixels for consistent CNN input tensor dimensions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7829" y="4468058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7829" y="4754404"/>
            <a:ext cx="7688342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4" name="Text 11"/>
          <p:cNvSpPr/>
          <p:nvPr/>
        </p:nvSpPr>
        <p:spPr>
          <a:xfrm>
            <a:off x="727829" y="4891088"/>
            <a:ext cx="2322909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Intensity Normalization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27829" y="5275302"/>
            <a:ext cx="768834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Pixel value scaling (0–255) → (0–1) with channel-wise mean/std deviation standardization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7829" y="5857518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7829" y="6143863"/>
            <a:ext cx="7688342" cy="2286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8" name="Text 15"/>
          <p:cNvSpPr/>
          <p:nvPr/>
        </p:nvSpPr>
        <p:spPr>
          <a:xfrm>
            <a:off x="727829" y="6280547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Augmentation Pipeline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27829" y="6664762"/>
            <a:ext cx="7688342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flips, rotations (±15°), and brightness/contrast perturbations for model robustness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39309"/>
            <a:ext cx="72061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 &amp; CNN Model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057043"/>
            <a:ext cx="992267" cy="1190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84415" y="22554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Input Layer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1984415" y="2684621"/>
            <a:ext cx="63657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224×224×3 tensor from preprocessed radiograph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247787"/>
            <a:ext cx="992267" cy="1190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84415" y="34461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Convolutional Blocks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984415" y="3875365"/>
            <a:ext cx="63657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 → ReLU → MaxPooling layers extracting hierarchical features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438531"/>
            <a:ext cx="992267" cy="14610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84415" y="46368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Extraction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1984415" y="5066109"/>
            <a:ext cx="636579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Latent representations of pathological opacities and consolidation patterns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899547"/>
            <a:ext cx="992267" cy="1190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84415" y="609790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Classification Head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1984415" y="6527125"/>
            <a:ext cx="63657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Fully-connected layer with sigmoid activation for binary probability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11630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Innovation: Lipschitz Momentum Optimization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93790" y="3149441"/>
            <a:ext cx="3679031" cy="1793796"/>
          </a:xfrm>
          <a:prstGeom prst="roundRect">
            <a:avLst>
              <a:gd name="adj" fmla="val 464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9768" y="33554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Theoretical Foundation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9768" y="3784640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Adaptive learning rates derived from Lipschitz continuity constraints on gradient mappings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1179" y="3149441"/>
            <a:ext cx="3679031" cy="1793796"/>
          </a:xfrm>
          <a:prstGeom prst="roundRect">
            <a:avLst>
              <a:gd name="adj" fmla="val 464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77157" y="3355419"/>
            <a:ext cx="251257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Convergence Advantage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77157" y="3784640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Guaranteed stable descent with step sizes bounded by local smoothness parameters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5141595"/>
            <a:ext cx="7556421" cy="1476256"/>
          </a:xfrm>
          <a:prstGeom prst="roundRect">
            <a:avLst>
              <a:gd name="adj" fmla="val 564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9768" y="53475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Stability Properties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99768" y="5776793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oscillations in stochastic gradients compared to SGD/Adam baselines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6096" y="1087517"/>
            <a:ext cx="5033843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Training &amp; Evaluation Metrics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1146096" y="1899999"/>
            <a:ext cx="351949" cy="351949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4734" y="1929348"/>
            <a:ext cx="234672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21274" y="1953697"/>
            <a:ext cx="1955721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Loss Function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21274" y="2321362"/>
            <a:ext cx="677489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Binary Cross-Entropy (BCE) with logits for probabilistic outputs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6096" y="2791658"/>
            <a:ext cx="351949" cy="351949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4734" y="2821007"/>
            <a:ext cx="234672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1274" y="2845356"/>
            <a:ext cx="1955721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21274" y="3213021"/>
            <a:ext cx="677489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persistence on validation accuracy improvement with early stopping (patience=10)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6096" y="3683317"/>
            <a:ext cx="351949" cy="351949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4734" y="3712666"/>
            <a:ext cx="234672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21274" y="3737015"/>
            <a:ext cx="1955721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21274" y="4104680"/>
            <a:ext cx="677489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correct classifications proportion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46096" y="4574977"/>
            <a:ext cx="351949" cy="351949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4734" y="4604325"/>
            <a:ext cx="234672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21274" y="4628674"/>
            <a:ext cx="1955721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21274" y="4996339"/>
            <a:ext cx="677489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Proportion of positive predictions that are truly positive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6096" y="5466636"/>
            <a:ext cx="351949" cy="351949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4734" y="5495985"/>
            <a:ext cx="234672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21274" y="5520333"/>
            <a:ext cx="2008346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Recall (Clinical Priority)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21274" y="5887998"/>
            <a:ext cx="677489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Proportion of actual positives identified—</a:t>
            </a:r>
            <a:r>
              <a:rPr lang="en-US" sz="120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96% target</a:t>
            </a: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eliminate false negatives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46096" y="6358295"/>
            <a:ext cx="351949" cy="351949"/>
          </a:xfrm>
          <a:prstGeom prst="roundRect">
            <a:avLst>
              <a:gd name="adj" fmla="val 18671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4734" y="6387644"/>
            <a:ext cx="234672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21274" y="6411992"/>
            <a:ext cx="1955721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F1 Score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21274" y="6779657"/>
            <a:ext cx="6774894" cy="223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Harmoic mean of precision and recall for balanced assessment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503" y="1899999"/>
            <a:ext cx="4706183" cy="313658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3DD355B-39A2-462C-9640-043C569C0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634" y="6759656"/>
            <a:ext cx="6719766" cy="1399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075" y="545783"/>
            <a:ext cx="6641544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Results &amp; Performance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075" y="1561624"/>
            <a:ext cx="2354223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95.03%</a:t>
            </a:r>
            <a:endParaRPr lang="en-US" sz="5150" dirty="0"/>
          </a:p>
        </p:txBody>
      </p:sp>
      <p:sp>
        <p:nvSpPr>
          <p:cNvPr id="5" name="Text 2"/>
          <p:cNvSpPr/>
          <p:nvPr/>
        </p:nvSpPr>
        <p:spPr>
          <a:xfrm>
            <a:off x="793075" y="2463403"/>
            <a:ext cx="235422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Accuracy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075" y="2892028"/>
            <a:ext cx="2354223" cy="9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diagnostic correctness across test set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3394829" y="1561624"/>
            <a:ext cx="2354223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94%</a:t>
            </a:r>
            <a:endParaRPr lang="en-US" sz="5150" dirty="0"/>
          </a:p>
        </p:txBody>
      </p:sp>
      <p:sp>
        <p:nvSpPr>
          <p:cNvPr id="8" name="Text 5"/>
          <p:cNvSpPr/>
          <p:nvPr/>
        </p:nvSpPr>
        <p:spPr>
          <a:xfrm>
            <a:off x="3394829" y="2463403"/>
            <a:ext cx="235422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Precision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3394829" y="2892028"/>
            <a:ext cx="235422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Reliability of positive predictions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96583" y="1561624"/>
            <a:ext cx="2354223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96%</a:t>
            </a:r>
            <a:endParaRPr lang="en-US" sz="5150" dirty="0"/>
          </a:p>
        </p:txBody>
      </p:sp>
      <p:sp>
        <p:nvSpPr>
          <p:cNvPr id="11" name="Text 8"/>
          <p:cNvSpPr/>
          <p:nvPr/>
        </p:nvSpPr>
        <p:spPr>
          <a:xfrm>
            <a:off x="5996583" y="2463403"/>
            <a:ext cx="235422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Recall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96583" y="2892028"/>
            <a:ext cx="235422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Sensitivity to pneumonia cases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394829" y="4338042"/>
            <a:ext cx="2354223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95%</a:t>
            </a:r>
            <a:endParaRPr lang="en-US" sz="5150" dirty="0"/>
          </a:p>
        </p:txBody>
      </p:sp>
      <p:sp>
        <p:nvSpPr>
          <p:cNvPr id="14" name="Text 11"/>
          <p:cNvSpPr/>
          <p:nvPr/>
        </p:nvSpPr>
        <p:spPr>
          <a:xfrm>
            <a:off x="3394829" y="5239822"/>
            <a:ext cx="2354223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F1 Score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3394829" y="5668447"/>
            <a:ext cx="235422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Balanced performance metric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93075" y="6525101"/>
            <a:ext cx="7557849" cy="1158716"/>
          </a:xfrm>
          <a:prstGeom prst="roundRect">
            <a:avLst>
              <a:gd name="adj" fmla="val 7187"/>
            </a:avLst>
          </a:prstGeom>
          <a:solidFill>
            <a:srgbClr val="E1D4D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314" y="6827996"/>
            <a:ext cx="247769" cy="19823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37323" y="6772632"/>
            <a:ext cx="6715363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Clinical Priority: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5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96% Recall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ensures minimal false negatives, critical for avoiding missed diagnoses in acute care settings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8195"/>
            <a:ext cx="76440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Novelty &amp; Web Deployment Pipeline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4623197"/>
            <a:ext cx="13042821" cy="22860"/>
          </a:xfrm>
          <a:prstGeom prst="roundRect">
            <a:avLst>
              <a:gd name="adj" fmla="val 364651"/>
            </a:avLst>
          </a:prstGeom>
          <a:solidFill>
            <a:srgbClr val="D1C8C6"/>
          </a:solidFill>
          <a:ln/>
        </p:spPr>
      </p:sp>
      <p:sp>
        <p:nvSpPr>
          <p:cNvPr id="4" name="Shape 2"/>
          <p:cNvSpPr/>
          <p:nvPr/>
        </p:nvSpPr>
        <p:spPr>
          <a:xfrm>
            <a:off x="3316486" y="4027884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1C8C6"/>
          </a:solidFill>
          <a:ln/>
        </p:spPr>
      </p:sp>
      <p:sp>
        <p:nvSpPr>
          <p:cNvPr id="5" name="Shape 3"/>
          <p:cNvSpPr/>
          <p:nvPr/>
        </p:nvSpPr>
        <p:spPr>
          <a:xfrm>
            <a:off x="3104674" y="439995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79088" y="443716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87404" y="27651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Model Training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2148" y="3194328"/>
            <a:ext cx="467153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with </a:t>
            </a: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Lipschitz Momentum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augmented dataset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74556" y="4623197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1C8C6"/>
          </a:solidFill>
          <a:ln/>
        </p:spPr>
      </p:sp>
      <p:sp>
        <p:nvSpPr>
          <p:cNvPr id="10" name="Shape 8"/>
          <p:cNvSpPr/>
          <p:nvPr/>
        </p:nvSpPr>
        <p:spPr>
          <a:xfrm>
            <a:off x="5762744" y="439995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7158" y="443716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745593" y="5416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Flask API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650218" y="5846207"/>
            <a:ext cx="467165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 endpoint for image upload and prediction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632746" y="4027884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1C8C6"/>
          </a:solidFill>
          <a:ln/>
        </p:spPr>
      </p:sp>
      <p:sp>
        <p:nvSpPr>
          <p:cNvPr id="15" name="Shape 13"/>
          <p:cNvSpPr/>
          <p:nvPr/>
        </p:nvSpPr>
        <p:spPr>
          <a:xfrm>
            <a:off x="8420933" y="439995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5348" y="443716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403783" y="27651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Frontend Interface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308408" y="3194328"/>
            <a:ext cx="467165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application for radiographic screening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1290935" y="4623197"/>
            <a:ext cx="22860" cy="595313"/>
          </a:xfrm>
          <a:prstGeom prst="roundRect">
            <a:avLst>
              <a:gd name="adj" fmla="val 364651"/>
            </a:avLst>
          </a:prstGeom>
          <a:solidFill>
            <a:srgbClr val="D1C8C6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79123" y="439995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3537" y="443716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0061972" y="54169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Inference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966597" y="5846207"/>
            <a:ext cx="467165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deployment for clinical workflow integration</a:t>
            </a:r>
            <a:endParaRPr lang="en-US" sz="15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8BECF3E-A6D3-43A8-9D75-AD03BFF6C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7855" y="7795736"/>
            <a:ext cx="2082546" cy="433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8354"/>
            <a:ext cx="817661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Conclusion, Future Scope &amp; References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344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Achievements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742962"/>
            <a:ext cx="6279356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Lipschitz Momentum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integration achieved </a:t>
            </a:r>
            <a:r>
              <a:rPr lang="en-US" sz="1550" b="1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96% Recall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95% accuracy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Superior convergence over standard optimizers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Production-ready Flask API deployment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Addressed false-negative minimization for clinical safety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7372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Directions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5245775"/>
            <a:ext cx="6279356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ResNet/EfficientNet architectures for enhanced feature extraction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Multi-class pneumonia subtype classification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Prospective hospital validation studies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PACS systems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23444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References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2742962"/>
            <a:ext cx="6279356" cy="299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Kermany, D. S., et al. (2018). "Identifying Medical Diagnoses and Treatable Diseases by Image-Based Deep Learning." </a:t>
            </a:r>
            <a:r>
              <a:rPr lang="en-US" sz="15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Cell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172(5), 1122–1131.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Paszke, A., et al. (2019). "PyTorch: An Imperative Style, High-Performance Deep Learning Library." </a:t>
            </a:r>
            <a:r>
              <a:rPr lang="en-US" sz="15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Advances in Neural Information Processing Systems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32.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Rajpurkar, P., et al. (2017). "CheXNet: Radiologist-Level Pneumonia Detection on Chest X-Ray Images." </a:t>
            </a:r>
            <a:r>
              <a:rPr lang="en-US" sz="1550" i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arXiv:1711.05225</a:t>
            </a: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440376-FECB-403E-ABC5-4495836A4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178" y="7520925"/>
            <a:ext cx="3401638" cy="708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634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Open Sans</vt:lpstr>
      <vt:lpstr>Crimson Pro Bold</vt:lpstr>
      <vt:lpstr>Crimson Pro Light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Saunak Mahapatra</dc:creator>
  <cp:lastModifiedBy>Saunak Mahapatra</cp:lastModifiedBy>
  <cp:revision>2</cp:revision>
  <dcterms:created xsi:type="dcterms:W3CDTF">2026-03-31T07:54:53Z</dcterms:created>
  <dcterms:modified xsi:type="dcterms:W3CDTF">2026-03-31T08:02:55Z</dcterms:modified>
</cp:coreProperties>
</file>