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5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64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702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Lipschitz Momentum Optimization in Deep Learning for Pneumonia Detection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503491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Advancing medical imaging through adaptive optimization techniques</a:t>
            </a:r>
            <a:endParaRPr lang="en-US" sz="1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6964C-954D-46FE-A5B4-FCFB13CDA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178" y="7520925"/>
            <a:ext cx="3401638" cy="708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6828"/>
            <a:ext cx="72928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Optimization in Machine Learning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204561"/>
            <a:ext cx="3679031" cy="2587466"/>
          </a:xfrm>
          <a:prstGeom prst="roundRect">
            <a:avLst>
              <a:gd name="adj" fmla="val 322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9768" y="241053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3479" y="2574131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9768" y="32042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is Optimization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99768" y="363343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 optimal parameters that minimize loss function during model training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4671179" y="2204561"/>
            <a:ext cx="3679031" cy="2587466"/>
          </a:xfrm>
          <a:prstGeom prst="roundRect">
            <a:avLst>
              <a:gd name="adj" fmla="val 322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77157" y="241053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0868" y="2574131"/>
            <a:ext cx="267891" cy="2678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7157" y="32042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Role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4877157" y="363343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neural networks to learn patterns from medical images efficiently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93790" y="4990386"/>
            <a:ext cx="7556421" cy="1952387"/>
          </a:xfrm>
          <a:prstGeom prst="roundRect">
            <a:avLst>
              <a:gd name="adj" fmla="val 42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99768" y="519636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35E5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3479" y="5359956"/>
            <a:ext cx="267891" cy="2678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9768" y="59900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999768" y="6419255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Determines training speed, stability, and final model performance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071" y="567690"/>
            <a:ext cx="7627858" cy="118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Challenges with Traditional Optimizers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58071" y="2023824"/>
            <a:ext cx="7627858" cy="1421963"/>
          </a:xfrm>
          <a:prstGeom prst="roundRect">
            <a:avLst>
              <a:gd name="adj" fmla="val 77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5211" y="2023824"/>
            <a:ext cx="91440" cy="1421963"/>
          </a:xfrm>
          <a:prstGeom prst="roundRect">
            <a:avLst>
              <a:gd name="adj" fmla="val 87052"/>
            </a:avLst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1038939" y="2236113"/>
            <a:ext cx="2368987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Slow Convergence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38939" y="2640806"/>
            <a:ext cx="7134701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gradient descent requires many iterations to reach minimum, consuming computational resources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58071" y="3626763"/>
            <a:ext cx="7627858" cy="1421963"/>
          </a:xfrm>
          <a:prstGeom prst="roundRect">
            <a:avLst>
              <a:gd name="adj" fmla="val 77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5211" y="3626763"/>
            <a:ext cx="91440" cy="1421963"/>
          </a:xfrm>
          <a:prstGeom prst="roundRect">
            <a:avLst>
              <a:gd name="adj" fmla="val 87052"/>
            </a:avLst>
          </a:prstGeom>
          <a:solidFill>
            <a:srgbClr val="835E54"/>
          </a:solidFill>
          <a:ln/>
        </p:spPr>
      </p:sp>
      <p:sp>
        <p:nvSpPr>
          <p:cNvPr id="10" name="Text 7"/>
          <p:cNvSpPr/>
          <p:nvPr/>
        </p:nvSpPr>
        <p:spPr>
          <a:xfrm>
            <a:off x="1038939" y="3839051"/>
            <a:ext cx="2368987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Oscillations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38939" y="4243745"/>
            <a:ext cx="7134701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Unstable updates cause the optimizer to bounce around optimal points without settling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58071" y="5229701"/>
            <a:ext cx="7627858" cy="1125617"/>
          </a:xfrm>
          <a:prstGeom prst="roundRect">
            <a:avLst>
              <a:gd name="adj" fmla="val 9748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5211" y="5229701"/>
            <a:ext cx="91440" cy="1125617"/>
          </a:xfrm>
          <a:prstGeom prst="roundRect">
            <a:avLst>
              <a:gd name="adj" fmla="val 87052"/>
            </a:avLst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1038939" y="5441990"/>
            <a:ext cx="2368987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Local Minima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038939" y="5846683"/>
            <a:ext cx="713470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Gets trapped in suboptimal solutions instead of finding global minimum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58071" y="6536293"/>
            <a:ext cx="7627858" cy="1125617"/>
          </a:xfrm>
          <a:prstGeom prst="roundRect">
            <a:avLst>
              <a:gd name="adj" fmla="val 9748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5211" y="6536293"/>
            <a:ext cx="91440" cy="1125617"/>
          </a:xfrm>
          <a:prstGeom prst="roundRect">
            <a:avLst>
              <a:gd name="adj" fmla="val 87052"/>
            </a:avLst>
          </a:prstGeom>
          <a:solidFill>
            <a:srgbClr val="835E54"/>
          </a:solidFill>
          <a:ln/>
        </p:spPr>
      </p:sp>
      <p:sp>
        <p:nvSpPr>
          <p:cNvPr id="18" name="Text 15"/>
          <p:cNvSpPr/>
          <p:nvPr/>
        </p:nvSpPr>
        <p:spPr>
          <a:xfrm>
            <a:off x="1038939" y="6748582"/>
            <a:ext cx="2515791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Learning Rate Sensitivity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038939" y="7153275"/>
            <a:ext cx="713470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heavily depends on manually tuned hyperparameters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9758"/>
            <a:ext cx="577679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Understanding Momentum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787491"/>
            <a:ext cx="992267" cy="1190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84415" y="2985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Gradient Descent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984415" y="3415070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based only on current gradient direction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78235"/>
            <a:ext cx="992267" cy="1190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84415" y="41765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With Momentum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984415" y="4605814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Incorporates previous update direction for smoother trajectory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68979"/>
            <a:ext cx="992267" cy="1190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84415" y="53673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Faster Convergence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984415" y="5796558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Accelerates toward minimum while reducing oscillations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6654"/>
            <a:ext cx="65316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Lipschitz Continuity Explained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73567"/>
            <a:ext cx="1212771" cy="749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54568" y="3773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Definition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254568" y="4202787"/>
            <a:ext cx="272141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 with bounded gradients where the rate of change is limited by a constant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773567"/>
            <a:ext cx="1212771" cy="749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4764" y="3773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Bounded Gradients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684764" y="4202787"/>
            <a:ext cx="27215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Prevents large, unstable updates during optimization process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773567"/>
            <a:ext cx="1212771" cy="7494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15080" y="3773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Stability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1115080" y="4202787"/>
            <a:ext cx="27215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controlled, predictable parameter updates throughout training</a:t>
            </a:r>
            <a:endParaRPr lang="en-US" sz="15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CCC1A3-32E5-4191-9476-0072A0392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178" y="7520925"/>
            <a:ext cx="3401638" cy="70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8772"/>
            <a:ext cx="74726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Lipschitz Momentum Optimization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15665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1880830"/>
            <a:ext cx="7556421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20257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Lipschitz Constraint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80190" y="245495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bounded gradient condition to limit update magnitude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31196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80190" y="3434001"/>
            <a:ext cx="7556421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0" name="Text 7"/>
          <p:cNvSpPr/>
          <p:nvPr/>
        </p:nvSpPr>
        <p:spPr>
          <a:xfrm>
            <a:off x="6280190" y="3578900"/>
            <a:ext cx="25017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Momentum Integration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280190" y="400812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historical gradient information for direction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80190" y="46728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4987171"/>
            <a:ext cx="7556421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51320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Controlled Updates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280190" y="556129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Produces stable, adaptive parameter adjustments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80190" y="622601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280190" y="6540341"/>
            <a:ext cx="7556421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8" name="Text 15"/>
          <p:cNvSpPr/>
          <p:nvPr/>
        </p:nvSpPr>
        <p:spPr>
          <a:xfrm>
            <a:off x="6280190" y="6685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Improved Convergence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280190" y="711446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Achieves faster, more reliable optimization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8A7D0B-672E-4860-82A3-3AF0E044B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178" y="7520925"/>
            <a:ext cx="3401638" cy="708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38" y="594241"/>
            <a:ext cx="5191958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Mathematical Formulation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1638" y="1223724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Update Rule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21638" y="1807964"/>
            <a:ext cx="7700724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8" y="1807964"/>
            <a:ext cx="7700724" cy="309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638" y="2325410"/>
            <a:ext cx="7700724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38" y="2325410"/>
            <a:ext cx="7700724" cy="3099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21638" y="2842855"/>
            <a:ext cx="7700724" cy="1075134"/>
          </a:xfrm>
          <a:prstGeom prst="roundRect">
            <a:avLst>
              <a:gd name="adj" fmla="val 704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24878" y="3046095"/>
            <a:ext cx="225528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i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v_t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24878" y="3439358"/>
            <a:ext cx="729424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Momentum vector accumulating historical gradients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21638" y="4081939"/>
            <a:ext cx="7700724" cy="1075134"/>
          </a:xfrm>
          <a:prstGeom prst="roundRect">
            <a:avLst>
              <a:gd name="adj" fmla="val 704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24878" y="4285178"/>
            <a:ext cx="225528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i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\beta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24878" y="4678442"/>
            <a:ext cx="729424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Momentum decay factor (typically 0.9-0.99)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1638" y="5321022"/>
            <a:ext cx="7700724" cy="1075134"/>
          </a:xfrm>
          <a:prstGeom prst="roundRect">
            <a:avLst>
              <a:gd name="adj" fmla="val 704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4878" y="5524262"/>
            <a:ext cx="225528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i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\eta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24878" y="5917525"/>
            <a:ext cx="729424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rate controlling step size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21638" y="6560106"/>
            <a:ext cx="7700724" cy="1075134"/>
          </a:xfrm>
          <a:prstGeom prst="roundRect">
            <a:avLst>
              <a:gd name="adj" fmla="val 704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24878" y="6763345"/>
            <a:ext cx="225528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i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24878" y="7156609"/>
            <a:ext cx="729424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Lipschitz constant bounding gradient magnitude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02" y="658416"/>
            <a:ext cx="3920014" cy="489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Advantages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27102" y="1334095"/>
            <a:ext cx="7889796" cy="1466374"/>
          </a:xfrm>
          <a:prstGeom prst="roundRect">
            <a:avLst>
              <a:gd name="adj" fmla="val 449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1408" y="1498402"/>
            <a:ext cx="470297" cy="470297"/>
          </a:xfrm>
          <a:prstGeom prst="roundRect">
            <a:avLst>
              <a:gd name="adj" fmla="val 19441089"/>
            </a:avLst>
          </a:prstGeom>
          <a:solidFill>
            <a:srgbClr val="835E5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710" y="1627703"/>
            <a:ext cx="211574" cy="2115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1408" y="2092523"/>
            <a:ext cx="19600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Faster Convergence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91408" y="2411730"/>
            <a:ext cx="75611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training epochs needed to reach optimal solution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7102" y="2924294"/>
            <a:ext cx="7889796" cy="1466374"/>
          </a:xfrm>
          <a:prstGeom prst="roundRect">
            <a:avLst>
              <a:gd name="adj" fmla="val 449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91408" y="3088600"/>
            <a:ext cx="470297" cy="470297"/>
          </a:xfrm>
          <a:prstGeom prst="roundRect">
            <a:avLst>
              <a:gd name="adj" fmla="val 19441089"/>
            </a:avLst>
          </a:prstGeom>
          <a:solidFill>
            <a:srgbClr val="835E5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10" y="3217902"/>
            <a:ext cx="211574" cy="2115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1408" y="3682722"/>
            <a:ext cx="19600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Reduced Oscillations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91408" y="4001929"/>
            <a:ext cx="75611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Smooth update trajectory prevents bouncing around minimum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7102" y="4514493"/>
            <a:ext cx="7889796" cy="1466374"/>
          </a:xfrm>
          <a:prstGeom prst="roundRect">
            <a:avLst>
              <a:gd name="adj" fmla="val 449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1408" y="4678799"/>
            <a:ext cx="470297" cy="470297"/>
          </a:xfrm>
          <a:prstGeom prst="roundRect">
            <a:avLst>
              <a:gd name="adj" fmla="val 19441089"/>
            </a:avLst>
          </a:prstGeom>
          <a:solidFill>
            <a:srgbClr val="835E5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10" y="4808101"/>
            <a:ext cx="211574" cy="2115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1408" y="5272921"/>
            <a:ext cx="19600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Stable Training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91408" y="5592128"/>
            <a:ext cx="75611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Lipschitz constraint prevents divergent behavior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7102" y="6104692"/>
            <a:ext cx="7889796" cy="1466374"/>
          </a:xfrm>
          <a:prstGeom prst="roundRect">
            <a:avLst>
              <a:gd name="adj" fmla="val 449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91408" y="6268998"/>
            <a:ext cx="470297" cy="470297"/>
          </a:xfrm>
          <a:prstGeom prst="roundRect">
            <a:avLst>
              <a:gd name="adj" fmla="val 19441089"/>
            </a:avLst>
          </a:prstGeom>
          <a:solidFill>
            <a:srgbClr val="835E5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10" y="6398300"/>
            <a:ext cx="211574" cy="21157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1408" y="6863120"/>
            <a:ext cx="196000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Better Generalization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91408" y="7182326"/>
            <a:ext cx="75611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updates lead to improved test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05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Optimizer Comparison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109907"/>
            <a:ext cx="3227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Performance Comparison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93790" y="3077289"/>
            <a:ext cx="3679031" cy="1781651"/>
          </a:xfrm>
          <a:prstGeom prst="roundRect">
            <a:avLst>
              <a:gd name="adj" fmla="val 6159"/>
            </a:avLst>
          </a:prstGeom>
          <a:solidFill>
            <a:srgbClr val="FFFCFA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054429"/>
            <a:ext cx="36790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7" name="Shape 4"/>
          <p:cNvSpPr/>
          <p:nvPr/>
        </p:nvSpPr>
        <p:spPr>
          <a:xfrm>
            <a:off x="2335649" y="277963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  <a:ln/>
        </p:spPr>
      </p:sp>
      <p:sp>
        <p:nvSpPr>
          <p:cNvPr id="8" name="Text 5"/>
          <p:cNvSpPr/>
          <p:nvPr/>
        </p:nvSpPr>
        <p:spPr>
          <a:xfrm>
            <a:off x="2514243" y="292846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15008" y="3573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SGD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5008" y="4002643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convergence, sensitive to learning rate, oscillates frequently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671179" y="3077289"/>
            <a:ext cx="3679031" cy="1781651"/>
          </a:xfrm>
          <a:prstGeom prst="roundRect">
            <a:avLst>
              <a:gd name="adj" fmla="val 6159"/>
            </a:avLst>
          </a:prstGeom>
          <a:solidFill>
            <a:srgbClr val="FFFCFA"/>
          </a:solidFill>
          <a:ln/>
        </p:spPr>
      </p:sp>
      <p:sp>
        <p:nvSpPr>
          <p:cNvPr id="12" name="Shape 9"/>
          <p:cNvSpPr/>
          <p:nvPr/>
        </p:nvSpPr>
        <p:spPr>
          <a:xfrm>
            <a:off x="4671179" y="3054429"/>
            <a:ext cx="36790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3038" y="277963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6391632" y="292846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892397" y="3573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Adam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892397" y="4002643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learning rates, faster than SGD, but can overfit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93790" y="5354955"/>
            <a:ext cx="7556421" cy="1464112"/>
          </a:xfrm>
          <a:prstGeom prst="roundRect">
            <a:avLst>
              <a:gd name="adj" fmla="val 7495"/>
            </a:avLst>
          </a:prstGeom>
          <a:solidFill>
            <a:srgbClr val="FFFC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93790" y="5332095"/>
            <a:ext cx="755642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19" name="Shape 16"/>
          <p:cNvSpPr/>
          <p:nvPr/>
        </p:nvSpPr>
        <p:spPr>
          <a:xfrm>
            <a:off x="4274344" y="505729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  <a:ln/>
        </p:spPr>
      </p:sp>
      <p:sp>
        <p:nvSpPr>
          <p:cNvPr id="20" name="Text 17"/>
          <p:cNvSpPr/>
          <p:nvPr/>
        </p:nvSpPr>
        <p:spPr>
          <a:xfrm>
            <a:off x="4452938" y="520612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015008" y="58510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Lipschitz Momentum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15008" y="6280309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updates, stable convergence, reduced oscillations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6128"/>
            <a:ext cx="76610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Application in Pneumonia Detection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05501"/>
            <a:ext cx="301787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Implementation Details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775228"/>
            <a:ext cx="130428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Applied to CNN architecture for medical image classification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Trained on chest X-ray dataset with pneumonia labels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stable convergence within 50 epochs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accuracy and recall compared to baseline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5512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Behavior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52210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Smooth loss curve with consistent decrease, no divergence or oscillations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836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Results Impact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650593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accuracy, improved recall, stable learning behavior throughout training</a:t>
            </a: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43899-2B9F-4AFE-936D-047A23AAA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178" y="7520925"/>
            <a:ext cx="3401638" cy="708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401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</vt:lpstr>
      <vt:lpstr>Crimson Pro Bold</vt:lpstr>
      <vt:lpstr>Crimson Pro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Saunak Mahapatra</dc:creator>
  <cp:lastModifiedBy>Saunak Mahapatra</cp:lastModifiedBy>
  <cp:revision>2</cp:revision>
  <dcterms:created xsi:type="dcterms:W3CDTF">2026-03-31T08:05:04Z</dcterms:created>
  <dcterms:modified xsi:type="dcterms:W3CDTF">2026-03-31T08:10:52Z</dcterms:modified>
</cp:coreProperties>
</file>